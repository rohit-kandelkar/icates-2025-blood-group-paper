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Times New Roman MT Bold" charset="1" panose="02030802070405020303"/>
      <p:regular r:id="rId17"/>
    </p:embeddedFont>
    <p:embeddedFont>
      <p:font typeface="Times New Roman MT" charset="1" panose="02030502070405020303"/>
      <p:regular r:id="rId18"/>
    </p:embeddedFont>
    <p:embeddedFont>
      <p:font typeface="Canva Sans" charset="1" panose="020B0503030501040103"/>
      <p:regular r:id="rId19"/>
    </p:embeddedFont>
    <p:embeddedFont>
      <p:font typeface="Canva Sans Bold" charset="1" panose="020B0803030501040103"/>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2" Target="../media/image1.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media/image9.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2300799"/>
            <a:ext cx="16230600" cy="1844675"/>
          </a:xfrm>
          <a:prstGeom prst="rect">
            <a:avLst/>
          </a:prstGeom>
        </p:spPr>
        <p:txBody>
          <a:bodyPr anchor="t" rtlCol="false" tIns="0" lIns="0" bIns="0" rIns="0">
            <a:spAutoFit/>
          </a:bodyPr>
          <a:lstStyle/>
          <a:p>
            <a:pPr algn="ctr">
              <a:lnSpc>
                <a:spcPts val="7000"/>
              </a:lnSpc>
            </a:pPr>
            <a:r>
              <a:rPr lang="en-US" sz="5000" b="true">
                <a:solidFill>
                  <a:srgbClr val="000000"/>
                </a:solidFill>
                <a:latin typeface="Times New Roman MT Bold"/>
                <a:ea typeface="Times New Roman MT Bold"/>
                <a:cs typeface="Times New Roman MT Bold"/>
                <a:sym typeface="Times New Roman MT Bold"/>
              </a:rPr>
              <a:t>Blood Group Detection Using Fingerprint Patterns - A Deep Learning Approach</a:t>
            </a:r>
          </a:p>
        </p:txBody>
      </p:sp>
      <p:sp>
        <p:nvSpPr>
          <p:cNvPr name="TextBox 4" id="4"/>
          <p:cNvSpPr txBox="true"/>
          <p:nvPr/>
        </p:nvSpPr>
        <p:spPr>
          <a:xfrm rot="0">
            <a:off x="1028700" y="4720396"/>
            <a:ext cx="16230600" cy="1247140"/>
          </a:xfrm>
          <a:prstGeom prst="rect">
            <a:avLst/>
          </a:prstGeom>
        </p:spPr>
        <p:txBody>
          <a:bodyPr anchor="t" rtlCol="false" tIns="0" lIns="0" bIns="0" rIns="0">
            <a:spAutoFit/>
          </a:bodyPr>
          <a:lstStyle/>
          <a:p>
            <a:pPr algn="ctr">
              <a:lnSpc>
                <a:spcPts val="4759"/>
              </a:lnSpc>
            </a:pPr>
            <a:r>
              <a:rPr lang="en-US" sz="3399" b="true">
                <a:solidFill>
                  <a:srgbClr val="000000"/>
                </a:solidFill>
                <a:latin typeface="Times New Roman MT Bold"/>
                <a:ea typeface="Times New Roman MT Bold"/>
                <a:cs typeface="Times New Roman MT Bold"/>
                <a:sym typeface="Times New Roman MT Bold"/>
              </a:rPr>
              <a:t>Authors :</a:t>
            </a:r>
            <a:r>
              <a:rPr lang="en-US" sz="3399">
                <a:solidFill>
                  <a:srgbClr val="000000"/>
                </a:solidFill>
                <a:latin typeface="Times New Roman MT"/>
                <a:ea typeface="Times New Roman MT"/>
                <a:cs typeface="Times New Roman MT"/>
                <a:sym typeface="Times New Roman MT"/>
              </a:rPr>
              <a:t> Rohit Kandelkar, Yash Jahagirdar, Anandkumar Birajdar, Sukanya Bhaskar, and Rajeshwari Golande</a:t>
            </a:r>
          </a:p>
        </p:txBody>
      </p:sp>
      <p:sp>
        <p:nvSpPr>
          <p:cNvPr name="TextBox 5" id="5"/>
          <p:cNvSpPr txBox="true"/>
          <p:nvPr/>
        </p:nvSpPr>
        <p:spPr>
          <a:xfrm rot="0">
            <a:off x="1028700" y="6539036"/>
            <a:ext cx="16230600" cy="1247140"/>
          </a:xfrm>
          <a:prstGeom prst="rect">
            <a:avLst/>
          </a:prstGeom>
        </p:spPr>
        <p:txBody>
          <a:bodyPr anchor="t" rtlCol="false" tIns="0" lIns="0" bIns="0" rIns="0">
            <a:spAutoFit/>
          </a:bodyPr>
          <a:lstStyle/>
          <a:p>
            <a:pPr algn="ctr">
              <a:lnSpc>
                <a:spcPts val="4759"/>
              </a:lnSpc>
            </a:pPr>
            <a:r>
              <a:rPr lang="en-US" sz="3399" b="true">
                <a:solidFill>
                  <a:srgbClr val="000000"/>
                </a:solidFill>
                <a:latin typeface="Times New Roman MT Bold"/>
                <a:ea typeface="Times New Roman MT Bold"/>
                <a:cs typeface="Times New Roman MT Bold"/>
                <a:sym typeface="Times New Roman MT Bold"/>
              </a:rPr>
              <a:t>Department Of Computer Engineering (Regional Language)</a:t>
            </a:r>
          </a:p>
          <a:p>
            <a:pPr algn="ctr">
              <a:lnSpc>
                <a:spcPts val="4759"/>
              </a:lnSpc>
            </a:pPr>
            <a:r>
              <a:rPr lang="en-US" sz="3399" b="true">
                <a:solidFill>
                  <a:srgbClr val="000000"/>
                </a:solidFill>
                <a:latin typeface="Times New Roman MT Bold"/>
                <a:ea typeface="Times New Roman MT Bold"/>
                <a:cs typeface="Times New Roman MT Bold"/>
                <a:sym typeface="Times New Roman MT Bold"/>
              </a:rPr>
              <a:t>Pimpri Chinchwad College of Engineering (PCCOE), Pune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1989100"/>
            <a:ext cx="16230600" cy="7303008"/>
          </a:xfrm>
          <a:prstGeom prst="rect">
            <a:avLst/>
          </a:prstGeom>
        </p:spPr>
        <p:txBody>
          <a:bodyPr anchor="t" rtlCol="false" tIns="0" lIns="0" bIns="0" rIns="0">
            <a:spAutoFit/>
          </a:bodyPr>
          <a:lstStyle/>
          <a:p>
            <a:pPr algn="just">
              <a:lnSpc>
                <a:spcPts val="4536"/>
              </a:lnSpc>
            </a:pPr>
            <a:r>
              <a:rPr lang="en-US" sz="4200">
                <a:solidFill>
                  <a:srgbClr val="000000"/>
                </a:solidFill>
                <a:latin typeface="Times New Roman MT"/>
                <a:ea typeface="Times New Roman MT"/>
                <a:cs typeface="Times New Roman MT"/>
                <a:sym typeface="Times New Roman MT"/>
              </a:rPr>
              <a:t>1. AGENDA</a:t>
            </a:r>
          </a:p>
          <a:p>
            <a:pPr algn="just">
              <a:lnSpc>
                <a:spcPts val="2700"/>
              </a:lnSpc>
            </a:pPr>
          </a:p>
          <a:p>
            <a:pPr algn="just" marL="906780" indent="-453390" lvl="1">
              <a:lnSpc>
                <a:spcPts val="4536"/>
              </a:lnSpc>
              <a:buFont typeface="Arial"/>
              <a:buChar char="•"/>
            </a:pPr>
            <a:r>
              <a:rPr lang="en-US" sz="4200">
                <a:solidFill>
                  <a:srgbClr val="000000"/>
                </a:solidFill>
                <a:latin typeface="Times New Roman MT"/>
                <a:ea typeface="Times New Roman MT"/>
                <a:cs typeface="Times New Roman MT"/>
                <a:sym typeface="Times New Roman MT"/>
              </a:rPr>
              <a:t>Abstract</a:t>
            </a:r>
          </a:p>
          <a:p>
            <a:pPr algn="just" marL="906780" indent="-453390" lvl="1">
              <a:lnSpc>
                <a:spcPts val="4536"/>
              </a:lnSpc>
              <a:buFont typeface="Arial"/>
              <a:buChar char="•"/>
            </a:pPr>
            <a:r>
              <a:rPr lang="en-US" sz="4200">
                <a:solidFill>
                  <a:srgbClr val="000000"/>
                </a:solidFill>
                <a:latin typeface="Times New Roman MT"/>
                <a:ea typeface="Times New Roman MT"/>
                <a:cs typeface="Times New Roman MT"/>
                <a:sym typeface="Times New Roman MT"/>
              </a:rPr>
              <a:t>Introduction</a:t>
            </a:r>
          </a:p>
          <a:p>
            <a:pPr algn="just" marL="906780" indent="-453390" lvl="1">
              <a:lnSpc>
                <a:spcPts val="4536"/>
              </a:lnSpc>
              <a:buFont typeface="Arial"/>
              <a:buChar char="•"/>
            </a:pPr>
            <a:r>
              <a:rPr lang="en-US" sz="4200">
                <a:solidFill>
                  <a:srgbClr val="000000"/>
                </a:solidFill>
                <a:latin typeface="Times New Roman MT"/>
                <a:ea typeface="Times New Roman MT"/>
                <a:cs typeface="Times New Roman MT"/>
                <a:sym typeface="Times New Roman MT"/>
              </a:rPr>
              <a:t>Literature Review</a:t>
            </a:r>
          </a:p>
          <a:p>
            <a:pPr algn="just" marL="906780" indent="-453390" lvl="1">
              <a:lnSpc>
                <a:spcPts val="4536"/>
              </a:lnSpc>
              <a:buFont typeface="Arial"/>
              <a:buChar char="•"/>
            </a:pPr>
            <a:r>
              <a:rPr lang="en-US" sz="4200">
                <a:solidFill>
                  <a:srgbClr val="000000"/>
                </a:solidFill>
                <a:latin typeface="Times New Roman MT"/>
                <a:ea typeface="Times New Roman MT"/>
                <a:cs typeface="Times New Roman MT"/>
                <a:sym typeface="Times New Roman MT"/>
              </a:rPr>
              <a:t>Research Gaps</a:t>
            </a:r>
          </a:p>
          <a:p>
            <a:pPr algn="just" marL="906780" indent="-453390" lvl="1">
              <a:lnSpc>
                <a:spcPts val="4536"/>
              </a:lnSpc>
              <a:buFont typeface="Arial"/>
              <a:buChar char="•"/>
            </a:pPr>
            <a:r>
              <a:rPr lang="en-US" sz="4200">
                <a:solidFill>
                  <a:srgbClr val="000000"/>
                </a:solidFill>
                <a:latin typeface="Times New Roman MT"/>
                <a:ea typeface="Times New Roman MT"/>
                <a:cs typeface="Times New Roman MT"/>
                <a:sym typeface="Times New Roman MT"/>
              </a:rPr>
              <a:t>Methodology</a:t>
            </a:r>
          </a:p>
          <a:p>
            <a:pPr algn="just" marL="906780" indent="-453390" lvl="1">
              <a:lnSpc>
                <a:spcPts val="4536"/>
              </a:lnSpc>
              <a:buFont typeface="Arial"/>
              <a:buChar char="•"/>
            </a:pPr>
            <a:r>
              <a:rPr lang="en-US" sz="4200">
                <a:solidFill>
                  <a:srgbClr val="000000"/>
                </a:solidFill>
                <a:latin typeface="Times New Roman MT"/>
                <a:ea typeface="Times New Roman MT"/>
                <a:cs typeface="Times New Roman MT"/>
                <a:sym typeface="Times New Roman MT"/>
              </a:rPr>
              <a:t>Results &amp; Discussion</a:t>
            </a:r>
          </a:p>
          <a:p>
            <a:pPr algn="just" marL="906780" indent="-453390" lvl="1">
              <a:lnSpc>
                <a:spcPts val="4536"/>
              </a:lnSpc>
              <a:buFont typeface="Arial"/>
              <a:buChar char="•"/>
            </a:pPr>
            <a:r>
              <a:rPr lang="en-US" sz="4200">
                <a:solidFill>
                  <a:srgbClr val="000000"/>
                </a:solidFill>
                <a:latin typeface="Times New Roman MT"/>
                <a:ea typeface="Times New Roman MT"/>
                <a:cs typeface="Times New Roman MT"/>
                <a:sym typeface="Times New Roman MT"/>
              </a:rPr>
              <a:t>Comparative Analysis</a:t>
            </a:r>
          </a:p>
          <a:p>
            <a:pPr algn="just" marL="906780" indent="-453390" lvl="1">
              <a:lnSpc>
                <a:spcPts val="4536"/>
              </a:lnSpc>
              <a:buFont typeface="Arial"/>
              <a:buChar char="•"/>
            </a:pPr>
            <a:r>
              <a:rPr lang="en-US" sz="4200">
                <a:solidFill>
                  <a:srgbClr val="000000"/>
                </a:solidFill>
                <a:latin typeface="Times New Roman MT"/>
                <a:ea typeface="Times New Roman MT"/>
                <a:cs typeface="Times New Roman MT"/>
                <a:sym typeface="Times New Roman MT"/>
              </a:rPr>
              <a:t>Conclusion &amp; Future Work</a:t>
            </a:r>
          </a:p>
          <a:p>
            <a:pPr algn="just" marL="906780" indent="-453390" lvl="1">
              <a:lnSpc>
                <a:spcPts val="4536"/>
              </a:lnSpc>
              <a:buFont typeface="Arial"/>
              <a:buChar char="•"/>
            </a:pPr>
            <a:r>
              <a:rPr lang="en-US" sz="4200">
                <a:solidFill>
                  <a:srgbClr val="000000"/>
                </a:solidFill>
                <a:latin typeface="Times New Roman MT"/>
                <a:ea typeface="Times New Roman MT"/>
                <a:cs typeface="Times New Roman MT"/>
                <a:sym typeface="Times New Roman MT"/>
              </a:rPr>
              <a:t>References</a:t>
            </a:r>
          </a:p>
          <a:p>
            <a:pPr algn="just">
              <a:lnSpc>
                <a:spcPts val="4536"/>
              </a:lnSpc>
            </a:pPr>
          </a:p>
          <a:p>
            <a:pPr algn="just">
              <a:lnSpc>
                <a:spcPts val="4536"/>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2033346"/>
            <a:ext cx="16230600" cy="7434834"/>
          </a:xfrm>
          <a:prstGeom prst="rect">
            <a:avLst/>
          </a:prstGeom>
        </p:spPr>
        <p:txBody>
          <a:bodyPr anchor="t" rtlCol="false" tIns="0" lIns="0" bIns="0" rIns="0">
            <a:spAutoFit/>
          </a:bodyPr>
          <a:lstStyle/>
          <a:p>
            <a:pPr algn="l">
              <a:lnSpc>
                <a:spcPts val="4536"/>
              </a:lnSpc>
            </a:pPr>
            <a:r>
              <a:rPr lang="en-US" sz="4200">
                <a:solidFill>
                  <a:srgbClr val="000000"/>
                </a:solidFill>
                <a:latin typeface="Times New Roman MT"/>
                <a:ea typeface="Times New Roman MT"/>
                <a:cs typeface="Times New Roman MT"/>
                <a:sym typeface="Times New Roman MT"/>
              </a:rPr>
              <a:t>2. ABSTRACT </a:t>
            </a:r>
          </a:p>
          <a:p>
            <a:pPr algn="l">
              <a:lnSpc>
                <a:spcPts val="3132"/>
              </a:lnSpc>
            </a:pPr>
          </a:p>
          <a:p>
            <a:pPr algn="just" marL="777243" indent="-388622" lvl="1">
              <a:lnSpc>
                <a:spcPts val="3888"/>
              </a:lnSpc>
              <a:buFont typeface="Arial"/>
              <a:buChar char="•"/>
            </a:pPr>
            <a:r>
              <a:rPr lang="en-US" b="true" sz="3600">
                <a:solidFill>
                  <a:srgbClr val="000000"/>
                </a:solidFill>
                <a:latin typeface="Times New Roman MT Bold"/>
                <a:ea typeface="Times New Roman MT Bold"/>
                <a:cs typeface="Times New Roman MT Bold"/>
                <a:sym typeface="Times New Roman MT Bold"/>
              </a:rPr>
              <a:t>P</a:t>
            </a:r>
            <a:r>
              <a:rPr lang="en-US" b="true" sz="3600">
                <a:solidFill>
                  <a:srgbClr val="000000"/>
                </a:solidFill>
                <a:latin typeface="Times New Roman MT Bold"/>
                <a:ea typeface="Times New Roman MT Bold"/>
                <a:cs typeface="Times New Roman MT Bold"/>
                <a:sym typeface="Times New Roman MT Bold"/>
              </a:rPr>
              <a:t>roblem:</a:t>
            </a:r>
            <a:r>
              <a:rPr lang="en-US" sz="3600">
                <a:solidFill>
                  <a:srgbClr val="000000"/>
                </a:solidFill>
                <a:latin typeface="Times New Roman MT"/>
                <a:ea typeface="Times New Roman MT"/>
                <a:cs typeface="Times New Roman MT"/>
                <a:sym typeface="Times New Roman MT"/>
              </a:rPr>
              <a:t> Traditional blood typing methods are accurate but are invasive, slow, and require significant resources.</a:t>
            </a:r>
          </a:p>
          <a:p>
            <a:pPr algn="just">
              <a:lnSpc>
                <a:spcPts val="3888"/>
              </a:lnSpc>
            </a:pPr>
          </a:p>
          <a:p>
            <a:pPr algn="just" marL="777243" indent="-388622" lvl="1">
              <a:lnSpc>
                <a:spcPts val="3888"/>
              </a:lnSpc>
              <a:buFont typeface="Arial"/>
              <a:buChar char="•"/>
            </a:pPr>
            <a:r>
              <a:rPr lang="en-US" b="true" sz="3600">
                <a:solidFill>
                  <a:srgbClr val="000000"/>
                </a:solidFill>
                <a:latin typeface="Times New Roman MT Bold"/>
                <a:ea typeface="Times New Roman MT Bold"/>
                <a:cs typeface="Times New Roman MT Bold"/>
                <a:sym typeface="Times New Roman MT Bold"/>
              </a:rPr>
              <a:t>Method:</a:t>
            </a:r>
            <a:r>
              <a:rPr lang="en-US" sz="3600">
                <a:solidFill>
                  <a:srgbClr val="000000"/>
                </a:solidFill>
                <a:latin typeface="Times New Roman MT"/>
                <a:ea typeface="Times New Roman MT"/>
                <a:cs typeface="Times New Roman MT"/>
                <a:sym typeface="Times New Roman MT"/>
              </a:rPr>
              <a:t> Proposed a non-invasive approach to classify blood groups using fingerprint patterns and various Convolutional Neural Network (CNN) architectures.</a:t>
            </a:r>
          </a:p>
          <a:p>
            <a:pPr algn="just">
              <a:lnSpc>
                <a:spcPts val="3888"/>
              </a:lnSpc>
            </a:pPr>
          </a:p>
          <a:p>
            <a:pPr algn="just" marL="777243" indent="-388622" lvl="1">
              <a:lnSpc>
                <a:spcPts val="3888"/>
              </a:lnSpc>
              <a:buFont typeface="Arial"/>
              <a:buChar char="•"/>
            </a:pPr>
            <a:r>
              <a:rPr lang="en-US" b="true" sz="3600">
                <a:solidFill>
                  <a:srgbClr val="000000"/>
                </a:solidFill>
                <a:latin typeface="Times New Roman MT Bold"/>
                <a:ea typeface="Times New Roman MT Bold"/>
                <a:cs typeface="Times New Roman MT Bold"/>
                <a:sym typeface="Times New Roman MT Bold"/>
              </a:rPr>
              <a:t>Key Results:</a:t>
            </a:r>
            <a:r>
              <a:rPr lang="en-US" sz="3600">
                <a:solidFill>
                  <a:srgbClr val="000000"/>
                </a:solidFill>
                <a:latin typeface="Times New Roman MT"/>
                <a:ea typeface="Times New Roman MT"/>
                <a:cs typeface="Times New Roman MT"/>
                <a:sym typeface="Times New Roman MT"/>
              </a:rPr>
              <a:t> A Shallow CNN outperformed more complex models, achieving the highest accuracy of 89.49% with a significantly faster training time.</a:t>
            </a:r>
          </a:p>
          <a:p>
            <a:pPr algn="just">
              <a:lnSpc>
                <a:spcPts val="3888"/>
              </a:lnSpc>
            </a:pPr>
          </a:p>
          <a:p>
            <a:pPr algn="just" marL="777243" indent="-388622" lvl="1">
              <a:lnSpc>
                <a:spcPts val="3888"/>
              </a:lnSpc>
              <a:buFont typeface="Arial"/>
              <a:buChar char="•"/>
            </a:pPr>
            <a:r>
              <a:rPr lang="en-US" b="true" sz="3600">
                <a:solidFill>
                  <a:srgbClr val="000000"/>
                </a:solidFill>
                <a:latin typeface="Times New Roman MT Bold"/>
                <a:ea typeface="Times New Roman MT Bold"/>
                <a:cs typeface="Times New Roman MT Bold"/>
                <a:sym typeface="Times New Roman MT Bold"/>
              </a:rPr>
              <a:t>Impact:</a:t>
            </a:r>
            <a:r>
              <a:rPr lang="en-US" sz="3600">
                <a:solidFill>
                  <a:srgbClr val="000000"/>
                </a:solidFill>
                <a:latin typeface="Times New Roman MT"/>
                <a:ea typeface="Times New Roman MT"/>
                <a:cs typeface="Times New Roman MT"/>
                <a:sym typeface="Times New Roman MT"/>
              </a:rPr>
              <a:t> This research demonstrates a promising, non-invasive, and cost-effective alternative to conventional blood typing.</a:t>
            </a:r>
          </a:p>
          <a:p>
            <a:pPr algn="just">
              <a:lnSpc>
                <a:spcPts val="4320"/>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2686431"/>
            <a:ext cx="7858556" cy="6362319"/>
          </a:xfrm>
          <a:prstGeom prst="rect">
            <a:avLst/>
          </a:prstGeom>
        </p:spPr>
        <p:txBody>
          <a:bodyPr anchor="t" rtlCol="false" tIns="0" lIns="0" bIns="0" rIns="0">
            <a:spAutoFit/>
          </a:bodyPr>
          <a:lstStyle/>
          <a:p>
            <a:pPr algn="just" marL="669293" indent="-334646" lvl="1">
              <a:lnSpc>
                <a:spcPts val="3348"/>
              </a:lnSpc>
              <a:buFont typeface="Arial"/>
              <a:buChar char="•"/>
            </a:pPr>
            <a:r>
              <a:rPr lang="en-US" b="true" sz="3100">
                <a:solidFill>
                  <a:srgbClr val="000000"/>
                </a:solidFill>
                <a:latin typeface="Times New Roman MT Bold"/>
                <a:ea typeface="Times New Roman MT Bold"/>
                <a:cs typeface="Times New Roman MT Bold"/>
                <a:sym typeface="Times New Roman MT Bold"/>
              </a:rPr>
              <a:t>The Foundation: </a:t>
            </a:r>
            <a:r>
              <a:rPr lang="en-US" sz="3100">
                <a:solidFill>
                  <a:srgbClr val="000000"/>
                </a:solidFill>
                <a:latin typeface="Times New Roman MT"/>
                <a:ea typeface="Times New Roman MT"/>
                <a:cs typeface="Times New Roman MT"/>
                <a:sym typeface="Times New Roman MT"/>
              </a:rPr>
              <a:t>Fingerprints are a cornerstone of biometric identification. Emerging research suggests a potential link between their unique patterns and genetic traits, including blood groups.</a:t>
            </a:r>
          </a:p>
          <a:p>
            <a:pPr algn="just">
              <a:lnSpc>
                <a:spcPts val="3348"/>
              </a:lnSpc>
            </a:pPr>
          </a:p>
          <a:p>
            <a:pPr algn="just" marL="669293" indent="-334646" lvl="1">
              <a:lnSpc>
                <a:spcPts val="3348"/>
              </a:lnSpc>
              <a:buFont typeface="Arial"/>
              <a:buChar char="•"/>
            </a:pPr>
            <a:r>
              <a:rPr lang="en-US" b="true" sz="3100">
                <a:solidFill>
                  <a:srgbClr val="000000"/>
                </a:solidFill>
                <a:latin typeface="Times New Roman MT Bold"/>
                <a:ea typeface="Times New Roman MT Bold"/>
                <a:cs typeface="Times New Roman MT Bold"/>
                <a:sym typeface="Times New Roman MT Bold"/>
              </a:rPr>
              <a:t>The Problem: </a:t>
            </a:r>
            <a:r>
              <a:rPr lang="en-US" sz="3100">
                <a:solidFill>
                  <a:srgbClr val="000000"/>
                </a:solidFill>
                <a:latin typeface="Times New Roman MT"/>
                <a:ea typeface="Times New Roman MT"/>
                <a:cs typeface="Times New Roman MT"/>
                <a:sym typeface="Times New Roman MT"/>
              </a:rPr>
              <a:t>Conventional blood typing methods are accurate but have significant drawbacks:</a:t>
            </a:r>
          </a:p>
          <a:p>
            <a:pPr algn="just" marL="1338585" indent="-446195" lvl="2">
              <a:lnSpc>
                <a:spcPts val="3348"/>
              </a:lnSpc>
              <a:buFont typeface="Arial"/>
              <a:buChar char="⚬"/>
            </a:pPr>
            <a:r>
              <a:rPr lang="en-US" b="true" sz="3100">
                <a:solidFill>
                  <a:srgbClr val="000000"/>
                </a:solidFill>
                <a:latin typeface="Times New Roman MT Bold"/>
                <a:ea typeface="Times New Roman MT Bold"/>
                <a:cs typeface="Times New Roman MT Bold"/>
                <a:sym typeface="Times New Roman MT Bold"/>
              </a:rPr>
              <a:t>Invasive: </a:t>
            </a:r>
            <a:r>
              <a:rPr lang="en-US" sz="3100">
                <a:solidFill>
                  <a:srgbClr val="000000"/>
                </a:solidFill>
                <a:latin typeface="Times New Roman MT"/>
                <a:ea typeface="Times New Roman MT"/>
                <a:cs typeface="Times New Roman MT"/>
                <a:sym typeface="Times New Roman MT"/>
              </a:rPr>
              <a:t>They require physical blood samples.</a:t>
            </a:r>
          </a:p>
          <a:p>
            <a:pPr algn="just" marL="1338585" indent="-446195" lvl="2">
              <a:lnSpc>
                <a:spcPts val="3348"/>
              </a:lnSpc>
              <a:buFont typeface="Arial"/>
              <a:buChar char="⚬"/>
            </a:pPr>
            <a:r>
              <a:rPr lang="en-US" b="true" sz="3100">
                <a:solidFill>
                  <a:srgbClr val="000000"/>
                </a:solidFill>
                <a:latin typeface="Times New Roman MT Bold"/>
                <a:ea typeface="Times New Roman MT Bold"/>
                <a:cs typeface="Times New Roman MT Bold"/>
                <a:sym typeface="Times New Roman MT Bold"/>
              </a:rPr>
              <a:t>Time-Consuming &amp; Resource-Intensive: </a:t>
            </a:r>
            <a:r>
              <a:rPr lang="en-US" sz="3100">
                <a:solidFill>
                  <a:srgbClr val="000000"/>
                </a:solidFill>
                <a:latin typeface="Times New Roman MT"/>
                <a:ea typeface="Times New Roman MT"/>
                <a:cs typeface="Times New Roman MT"/>
                <a:sym typeface="Times New Roman MT"/>
              </a:rPr>
              <a:t>Not ideal for emergencies, remote healthcare, or large-scale screening.</a:t>
            </a:r>
          </a:p>
          <a:p>
            <a:pPr algn="just">
              <a:lnSpc>
                <a:spcPts val="3348"/>
              </a:lnSpc>
            </a:pPr>
          </a:p>
        </p:txBody>
      </p:sp>
      <p:sp>
        <p:nvSpPr>
          <p:cNvPr name="TextBox 4" id="4"/>
          <p:cNvSpPr txBox="true"/>
          <p:nvPr/>
        </p:nvSpPr>
        <p:spPr>
          <a:xfrm rot="0">
            <a:off x="9400744" y="2267331"/>
            <a:ext cx="7858556" cy="6781419"/>
          </a:xfrm>
          <a:prstGeom prst="rect">
            <a:avLst/>
          </a:prstGeom>
        </p:spPr>
        <p:txBody>
          <a:bodyPr anchor="t" rtlCol="false" tIns="0" lIns="0" bIns="0" rIns="0">
            <a:spAutoFit/>
          </a:bodyPr>
          <a:lstStyle/>
          <a:p>
            <a:pPr algn="just" marL="669289" indent="-334645" lvl="1">
              <a:lnSpc>
                <a:spcPts val="3347"/>
              </a:lnSpc>
              <a:buFont typeface="Arial"/>
              <a:buChar char="•"/>
            </a:pPr>
            <a:r>
              <a:rPr lang="en-US" b="true" sz="3099">
                <a:solidFill>
                  <a:srgbClr val="000000"/>
                </a:solidFill>
                <a:latin typeface="Times New Roman MT Bold"/>
                <a:ea typeface="Times New Roman MT Bold"/>
                <a:cs typeface="Times New Roman MT Bold"/>
                <a:sym typeface="Times New Roman MT Bold"/>
              </a:rPr>
              <a:t>The Gap in Previous Research: </a:t>
            </a:r>
            <a:r>
              <a:rPr lang="en-US" sz="3099">
                <a:solidFill>
                  <a:srgbClr val="000000"/>
                </a:solidFill>
                <a:latin typeface="Times New Roman MT"/>
                <a:ea typeface="Times New Roman MT"/>
                <a:cs typeface="Times New Roman MT"/>
                <a:sym typeface="Times New Roman MT"/>
              </a:rPr>
              <a:t>Early attempts to use biometrics for this task relied on traditional machine learning (SVM, KNN). These methods suffered from:</a:t>
            </a:r>
          </a:p>
          <a:p>
            <a:pPr algn="just" marL="1338579" indent="-446193" lvl="2">
              <a:lnSpc>
                <a:spcPts val="3347"/>
              </a:lnSpc>
              <a:buFont typeface="Arial"/>
              <a:buChar char="⚬"/>
            </a:pPr>
            <a:r>
              <a:rPr lang="en-US" sz="3099">
                <a:solidFill>
                  <a:srgbClr val="000000"/>
                </a:solidFill>
                <a:latin typeface="Times New Roman MT"/>
                <a:ea typeface="Times New Roman MT"/>
                <a:cs typeface="Times New Roman MT"/>
                <a:sym typeface="Times New Roman MT"/>
              </a:rPr>
              <a:t>Poor accuracy (generally below 80%).</a:t>
            </a:r>
          </a:p>
          <a:p>
            <a:pPr algn="just" marL="1338579" indent="-446193" lvl="2">
              <a:lnSpc>
                <a:spcPts val="3347"/>
              </a:lnSpc>
              <a:buFont typeface="Arial"/>
              <a:buChar char="⚬"/>
            </a:pPr>
            <a:r>
              <a:rPr lang="en-US" sz="3099">
                <a:solidFill>
                  <a:srgbClr val="000000"/>
                </a:solidFill>
                <a:latin typeface="Times New Roman MT"/>
                <a:ea typeface="Times New Roman MT"/>
                <a:cs typeface="Times New Roman MT"/>
                <a:sym typeface="Times New Roman MT"/>
              </a:rPr>
              <a:t>High sensitivity to image noise.</a:t>
            </a:r>
          </a:p>
          <a:p>
            <a:pPr algn="just" marL="1338579" indent="-446193" lvl="2">
              <a:lnSpc>
                <a:spcPts val="3347"/>
              </a:lnSpc>
              <a:buFont typeface="Arial"/>
              <a:buChar char="⚬"/>
            </a:pPr>
            <a:r>
              <a:rPr lang="en-US" sz="3099">
                <a:solidFill>
                  <a:srgbClr val="000000"/>
                </a:solidFill>
                <a:latin typeface="Times New Roman MT"/>
                <a:ea typeface="Times New Roman MT"/>
                <a:cs typeface="Times New Roman MT"/>
                <a:sym typeface="Times New Roman MT"/>
              </a:rPr>
              <a:t>Limited ability to generalize from small datasets.</a:t>
            </a:r>
          </a:p>
          <a:p>
            <a:pPr algn="just">
              <a:lnSpc>
                <a:spcPts val="3347"/>
              </a:lnSpc>
            </a:pPr>
          </a:p>
          <a:p>
            <a:pPr algn="just" marL="669289" indent="-334645" lvl="1">
              <a:lnSpc>
                <a:spcPts val="3347"/>
              </a:lnSpc>
              <a:buFont typeface="Arial"/>
              <a:buChar char="•"/>
            </a:pPr>
            <a:r>
              <a:rPr lang="en-US" b="true" sz="3099">
                <a:solidFill>
                  <a:srgbClr val="000000"/>
                </a:solidFill>
                <a:latin typeface="Times New Roman MT Bold"/>
                <a:ea typeface="Times New Roman MT Bold"/>
                <a:cs typeface="Times New Roman MT Bold"/>
                <a:sym typeface="Times New Roman MT Bold"/>
              </a:rPr>
              <a:t>Our Approach: </a:t>
            </a:r>
            <a:r>
              <a:rPr lang="en-US" sz="3099">
                <a:solidFill>
                  <a:srgbClr val="000000"/>
                </a:solidFill>
                <a:latin typeface="Times New Roman MT"/>
                <a:ea typeface="Times New Roman MT"/>
                <a:cs typeface="Times New Roman MT"/>
                <a:sym typeface="Times New Roman MT"/>
              </a:rPr>
              <a:t>This study propos</a:t>
            </a:r>
            <a:r>
              <a:rPr lang="en-US" sz="3099">
                <a:solidFill>
                  <a:srgbClr val="000000"/>
                </a:solidFill>
                <a:latin typeface="Times New Roman MT"/>
                <a:ea typeface="Times New Roman MT"/>
                <a:cs typeface="Times New Roman MT"/>
                <a:sym typeface="Times New Roman MT"/>
              </a:rPr>
              <a:t>e</a:t>
            </a:r>
            <a:r>
              <a:rPr lang="en-US" sz="3099">
                <a:solidFill>
                  <a:srgbClr val="000000"/>
                </a:solidFill>
                <a:latin typeface="Times New Roman MT"/>
                <a:ea typeface="Times New Roman MT"/>
                <a:cs typeface="Times New Roman MT"/>
                <a:sym typeface="Times New Roman MT"/>
              </a:rPr>
              <a:t>s</a:t>
            </a:r>
            <a:r>
              <a:rPr lang="en-US" sz="3099">
                <a:solidFill>
                  <a:srgbClr val="000000"/>
                </a:solidFill>
                <a:latin typeface="Times New Roman MT"/>
                <a:ea typeface="Times New Roman MT"/>
                <a:cs typeface="Times New Roman MT"/>
                <a:sym typeface="Times New Roman MT"/>
              </a:rPr>
              <a:t> </a:t>
            </a:r>
            <a:r>
              <a:rPr lang="en-US" sz="3099">
                <a:solidFill>
                  <a:srgbClr val="000000"/>
                </a:solidFill>
                <a:latin typeface="Times New Roman MT"/>
                <a:ea typeface="Times New Roman MT"/>
                <a:cs typeface="Times New Roman MT"/>
                <a:sym typeface="Times New Roman MT"/>
              </a:rPr>
              <a:t>a m</a:t>
            </a:r>
            <a:r>
              <a:rPr lang="en-US" sz="3099">
                <a:solidFill>
                  <a:srgbClr val="000000"/>
                </a:solidFill>
                <a:latin typeface="Times New Roman MT"/>
                <a:ea typeface="Times New Roman MT"/>
                <a:cs typeface="Times New Roman MT"/>
                <a:sym typeface="Times New Roman MT"/>
              </a:rPr>
              <a:t>o</a:t>
            </a:r>
            <a:r>
              <a:rPr lang="en-US" sz="3099">
                <a:solidFill>
                  <a:srgbClr val="000000"/>
                </a:solidFill>
                <a:latin typeface="Times New Roman MT"/>
                <a:ea typeface="Times New Roman MT"/>
                <a:cs typeface="Times New Roman MT"/>
                <a:sym typeface="Times New Roman MT"/>
              </a:rPr>
              <a:t>d</a:t>
            </a:r>
            <a:r>
              <a:rPr lang="en-US" sz="3099">
                <a:solidFill>
                  <a:srgbClr val="000000"/>
                </a:solidFill>
                <a:latin typeface="Times New Roman MT"/>
                <a:ea typeface="Times New Roman MT"/>
                <a:cs typeface="Times New Roman MT"/>
                <a:sym typeface="Times New Roman MT"/>
              </a:rPr>
              <a:t>e</a:t>
            </a:r>
            <a:r>
              <a:rPr lang="en-US" sz="3099">
                <a:solidFill>
                  <a:srgbClr val="000000"/>
                </a:solidFill>
                <a:latin typeface="Times New Roman MT"/>
                <a:ea typeface="Times New Roman MT"/>
                <a:cs typeface="Times New Roman MT"/>
                <a:sym typeface="Times New Roman MT"/>
              </a:rPr>
              <a:t>rn,</a:t>
            </a:r>
            <a:r>
              <a:rPr lang="en-US" sz="3099">
                <a:solidFill>
                  <a:srgbClr val="000000"/>
                </a:solidFill>
                <a:latin typeface="Times New Roman MT"/>
                <a:ea typeface="Times New Roman MT"/>
                <a:cs typeface="Times New Roman MT"/>
                <a:sym typeface="Times New Roman MT"/>
              </a:rPr>
              <a:t> </a:t>
            </a:r>
            <a:r>
              <a:rPr lang="en-US" sz="3099">
                <a:solidFill>
                  <a:srgbClr val="000000"/>
                </a:solidFill>
                <a:latin typeface="Times New Roman MT"/>
                <a:ea typeface="Times New Roman MT"/>
                <a:cs typeface="Times New Roman MT"/>
                <a:sym typeface="Times New Roman MT"/>
              </a:rPr>
              <a:t>non-invasive solution using Convolutional Neural Networks (CNNs) to accurately and efficiently clas</a:t>
            </a:r>
            <a:r>
              <a:rPr lang="en-US" sz="3099">
                <a:solidFill>
                  <a:srgbClr val="000000"/>
                </a:solidFill>
                <a:latin typeface="Times New Roman MT"/>
                <a:ea typeface="Times New Roman MT"/>
                <a:cs typeface="Times New Roman MT"/>
                <a:sym typeface="Times New Roman MT"/>
              </a:rPr>
              <a:t>si</a:t>
            </a:r>
            <a:r>
              <a:rPr lang="en-US" sz="3099">
                <a:solidFill>
                  <a:srgbClr val="000000"/>
                </a:solidFill>
                <a:latin typeface="Times New Roman MT"/>
                <a:ea typeface="Times New Roman MT"/>
                <a:cs typeface="Times New Roman MT"/>
                <a:sym typeface="Times New Roman MT"/>
              </a:rPr>
              <a:t>fy blood </a:t>
            </a:r>
            <a:r>
              <a:rPr lang="en-US" sz="3099">
                <a:solidFill>
                  <a:srgbClr val="000000"/>
                </a:solidFill>
                <a:latin typeface="Times New Roman MT"/>
                <a:ea typeface="Times New Roman MT"/>
                <a:cs typeface="Times New Roman MT"/>
                <a:sym typeface="Times New Roman MT"/>
              </a:rPr>
              <a:t>g</a:t>
            </a:r>
            <a:r>
              <a:rPr lang="en-US" sz="3099">
                <a:solidFill>
                  <a:srgbClr val="000000"/>
                </a:solidFill>
                <a:latin typeface="Times New Roman MT"/>
                <a:ea typeface="Times New Roman MT"/>
                <a:cs typeface="Times New Roman MT"/>
                <a:sym typeface="Times New Roman MT"/>
              </a:rPr>
              <a:t>r</a:t>
            </a:r>
            <a:r>
              <a:rPr lang="en-US" sz="3099">
                <a:solidFill>
                  <a:srgbClr val="000000"/>
                </a:solidFill>
                <a:latin typeface="Times New Roman MT"/>
                <a:ea typeface="Times New Roman MT"/>
                <a:cs typeface="Times New Roman MT"/>
                <a:sym typeface="Times New Roman MT"/>
              </a:rPr>
              <a:t>ou</a:t>
            </a:r>
            <a:r>
              <a:rPr lang="en-US" sz="3099">
                <a:solidFill>
                  <a:srgbClr val="000000"/>
                </a:solidFill>
                <a:latin typeface="Times New Roman MT"/>
                <a:ea typeface="Times New Roman MT"/>
                <a:cs typeface="Times New Roman MT"/>
                <a:sym typeface="Times New Roman MT"/>
              </a:rPr>
              <a:t>p</a:t>
            </a:r>
            <a:r>
              <a:rPr lang="en-US" sz="3099">
                <a:solidFill>
                  <a:srgbClr val="000000"/>
                </a:solidFill>
                <a:latin typeface="Times New Roman MT"/>
                <a:ea typeface="Times New Roman MT"/>
                <a:cs typeface="Times New Roman MT"/>
                <a:sym typeface="Times New Roman MT"/>
              </a:rPr>
              <a:t>s </a:t>
            </a:r>
            <a:r>
              <a:rPr lang="en-US" sz="3099">
                <a:solidFill>
                  <a:srgbClr val="000000"/>
                </a:solidFill>
                <a:latin typeface="Times New Roman MT"/>
                <a:ea typeface="Times New Roman MT"/>
                <a:cs typeface="Times New Roman MT"/>
                <a:sym typeface="Times New Roman MT"/>
              </a:rPr>
              <a:t>directly from fingerprint images.</a:t>
            </a:r>
          </a:p>
          <a:p>
            <a:pPr algn="just">
              <a:lnSpc>
                <a:spcPts val="3347"/>
              </a:lnSpc>
            </a:pPr>
          </a:p>
        </p:txBody>
      </p:sp>
      <p:sp>
        <p:nvSpPr>
          <p:cNvPr name="TextBox 5" id="5"/>
          <p:cNvSpPr txBox="true"/>
          <p:nvPr/>
        </p:nvSpPr>
        <p:spPr>
          <a:xfrm rot="0">
            <a:off x="851718" y="1815846"/>
            <a:ext cx="5129570" cy="798196"/>
          </a:xfrm>
          <a:prstGeom prst="rect">
            <a:avLst/>
          </a:prstGeom>
        </p:spPr>
        <p:txBody>
          <a:bodyPr anchor="t" rtlCol="false" tIns="0" lIns="0" bIns="0" rIns="0">
            <a:spAutoFit/>
          </a:bodyPr>
          <a:lstStyle/>
          <a:p>
            <a:pPr algn="ctr">
              <a:lnSpc>
                <a:spcPts val="5879"/>
              </a:lnSpc>
            </a:pPr>
            <a:r>
              <a:rPr lang="en-US" sz="4199">
                <a:solidFill>
                  <a:srgbClr val="000000"/>
                </a:solidFill>
                <a:latin typeface="Times New Roman MT"/>
                <a:ea typeface="Times New Roman MT"/>
                <a:cs typeface="Times New Roman MT"/>
                <a:sym typeface="Times New Roman MT"/>
              </a:rPr>
              <a:t>3.</a:t>
            </a:r>
            <a:r>
              <a:rPr lang="en-US" sz="4199">
                <a:solidFill>
                  <a:srgbClr val="000000"/>
                </a:solidFill>
                <a:latin typeface="Times New Roman MT"/>
                <a:ea typeface="Times New Roman MT"/>
                <a:cs typeface="Times New Roman MT"/>
                <a:sym typeface="Times New Roman MT"/>
              </a:rPr>
              <a:t> INTRODUCTION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4716494" y="1961702"/>
            <a:ext cx="12786156" cy="6740702"/>
          </a:xfrm>
          <a:custGeom>
            <a:avLst/>
            <a:gdLst/>
            <a:ahLst/>
            <a:cxnLst/>
            <a:rect r="r" b="b" t="t" l="l"/>
            <a:pathLst>
              <a:path h="6740702" w="12786156">
                <a:moveTo>
                  <a:pt x="0" y="0"/>
                </a:moveTo>
                <a:lnTo>
                  <a:pt x="12786156" y="0"/>
                </a:lnTo>
                <a:lnTo>
                  <a:pt x="12786156" y="6740702"/>
                </a:lnTo>
                <a:lnTo>
                  <a:pt x="0" y="6740702"/>
                </a:lnTo>
                <a:lnTo>
                  <a:pt x="0" y="0"/>
                </a:lnTo>
                <a:close/>
              </a:path>
            </a:pathLst>
          </a:custGeom>
          <a:blipFill>
            <a:blip r:embed="rId3"/>
            <a:stretch>
              <a:fillRect l="0" t="-960" r="0" b="-960"/>
            </a:stretch>
          </a:blipFill>
        </p:spPr>
      </p:sp>
      <p:sp>
        <p:nvSpPr>
          <p:cNvPr name="TextBox 4" id="4"/>
          <p:cNvSpPr txBox="true"/>
          <p:nvPr/>
        </p:nvSpPr>
        <p:spPr>
          <a:xfrm rot="0">
            <a:off x="552427" y="3934735"/>
            <a:ext cx="4164066" cy="2756535"/>
          </a:xfrm>
          <a:prstGeom prst="rect">
            <a:avLst/>
          </a:prstGeom>
        </p:spPr>
        <p:txBody>
          <a:bodyPr anchor="t" rtlCol="false" tIns="0" lIns="0" bIns="0" rIns="0">
            <a:spAutoFit/>
          </a:bodyPr>
          <a:lstStyle/>
          <a:p>
            <a:pPr algn="l">
              <a:lnSpc>
                <a:spcPts val="4320"/>
              </a:lnSpc>
            </a:pPr>
            <a:r>
              <a:rPr lang="en-US" sz="4000">
                <a:solidFill>
                  <a:srgbClr val="000000"/>
                </a:solidFill>
                <a:latin typeface="Times New Roman MT"/>
                <a:ea typeface="Times New Roman MT"/>
                <a:cs typeface="Times New Roman MT"/>
                <a:sym typeface="Times New Roman MT"/>
              </a:rPr>
              <a:t>4. LITERATURE REVIEW </a:t>
            </a:r>
          </a:p>
          <a:p>
            <a:pPr algn="l">
              <a:lnSpc>
                <a:spcPts val="3888"/>
              </a:lnSpc>
            </a:pPr>
          </a:p>
          <a:p>
            <a:pPr algn="l">
              <a:lnSpc>
                <a:spcPts val="4320"/>
              </a:lnSpc>
            </a:pPr>
          </a:p>
          <a:p>
            <a:pPr algn="l">
              <a:lnSpc>
                <a:spcPts val="432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340729" y="1661160"/>
            <a:ext cx="17367360" cy="7656296"/>
          </a:xfrm>
          <a:prstGeom prst="rect">
            <a:avLst/>
          </a:prstGeom>
        </p:spPr>
        <p:txBody>
          <a:bodyPr anchor="t" rtlCol="false" tIns="0" lIns="0" bIns="0" rIns="0">
            <a:spAutoFit/>
          </a:bodyPr>
          <a:lstStyle/>
          <a:p>
            <a:pPr algn="just">
              <a:lnSpc>
                <a:spcPts val="4320"/>
              </a:lnSpc>
            </a:pPr>
            <a:r>
              <a:rPr lang="en-US" sz="4000">
                <a:solidFill>
                  <a:srgbClr val="000000"/>
                </a:solidFill>
                <a:latin typeface="Times New Roman MT"/>
                <a:ea typeface="Times New Roman MT"/>
                <a:cs typeface="Times New Roman MT"/>
                <a:sym typeface="Times New Roman MT"/>
              </a:rPr>
              <a:t>5. RESEARCH GAPS </a:t>
            </a:r>
          </a:p>
          <a:p>
            <a:pPr algn="just">
              <a:lnSpc>
                <a:spcPts val="756"/>
              </a:lnSpc>
            </a:pPr>
          </a:p>
          <a:p>
            <a:pPr algn="just" marL="647706" indent="-323853" lvl="1">
              <a:lnSpc>
                <a:spcPts val="3240"/>
              </a:lnSpc>
              <a:buFont typeface="Arial"/>
              <a:buChar char="•"/>
            </a:pPr>
            <a:r>
              <a:rPr lang="en-US" b="true" sz="3000">
                <a:solidFill>
                  <a:srgbClr val="000000"/>
                </a:solidFill>
                <a:latin typeface="Times New Roman MT Bold"/>
                <a:ea typeface="Times New Roman MT Bold"/>
                <a:cs typeface="Times New Roman MT Bold"/>
                <a:sym typeface="Times New Roman MT Bold"/>
              </a:rPr>
              <a:t>Inadequate Preprocessing in Prior Work: </a:t>
            </a:r>
            <a:r>
              <a:rPr lang="en-US" sz="3000">
                <a:solidFill>
                  <a:srgbClr val="000000"/>
                </a:solidFill>
                <a:latin typeface="Times New Roman MT"/>
                <a:ea typeface="Times New Roman MT"/>
                <a:cs typeface="Times New Roman MT"/>
                <a:sym typeface="Times New Roman MT"/>
              </a:rPr>
              <a:t>Many previous studies failed to address significant dataset issues, particularly class imbalance, which leads to biased and unreliable model performance.</a:t>
            </a:r>
          </a:p>
          <a:p>
            <a:pPr algn="just">
              <a:lnSpc>
                <a:spcPts val="3240"/>
              </a:lnSpc>
            </a:pPr>
          </a:p>
          <a:p>
            <a:pPr algn="just" marL="647706" indent="-323853" lvl="1">
              <a:lnSpc>
                <a:spcPts val="3240"/>
              </a:lnSpc>
              <a:buFont typeface="Arial"/>
              <a:buChar char="•"/>
            </a:pPr>
            <a:r>
              <a:rPr lang="en-US" b="true" sz="3000">
                <a:solidFill>
                  <a:srgbClr val="000000"/>
                </a:solidFill>
                <a:latin typeface="Times New Roman MT Bold"/>
                <a:ea typeface="Times New Roman MT Bold"/>
                <a:cs typeface="Times New Roman MT Bold"/>
                <a:sym typeface="Times New Roman MT Bold"/>
              </a:rPr>
              <a:t>Lack of Standardized Baselines: </a:t>
            </a:r>
            <a:r>
              <a:rPr lang="en-US" sz="3000">
                <a:solidFill>
                  <a:srgbClr val="000000"/>
                </a:solidFill>
                <a:latin typeface="Times New Roman MT"/>
                <a:ea typeface="Times New Roman MT"/>
                <a:cs typeface="Times New Roman MT"/>
                <a:sym typeface="Times New Roman MT"/>
              </a:rPr>
              <a:t>Earlier papers often presented results for a single model without a fair, controlled comparison against other architectures, making it difficult to validate their claims of superiority.</a:t>
            </a:r>
          </a:p>
          <a:p>
            <a:pPr algn="just">
              <a:lnSpc>
                <a:spcPts val="3240"/>
              </a:lnSpc>
            </a:pPr>
          </a:p>
          <a:p>
            <a:pPr algn="just" marL="647706" indent="-323853" lvl="1">
              <a:lnSpc>
                <a:spcPts val="3240"/>
              </a:lnSpc>
              <a:buFont typeface="Arial"/>
              <a:buChar char="•"/>
            </a:pPr>
            <a:r>
              <a:rPr lang="en-US" b="true" sz="3000">
                <a:solidFill>
                  <a:srgbClr val="000000"/>
                </a:solidFill>
                <a:latin typeface="Times New Roman MT Bold"/>
                <a:ea typeface="Times New Roman MT Bold"/>
                <a:cs typeface="Times New Roman MT Bold"/>
                <a:sym typeface="Times New Roman MT Bold"/>
              </a:rPr>
              <a:t>Limited Accuracy of Traditional Methods: </a:t>
            </a:r>
            <a:r>
              <a:rPr lang="en-US" sz="3000">
                <a:solidFill>
                  <a:srgbClr val="000000"/>
                </a:solidFill>
                <a:latin typeface="Times New Roman MT"/>
                <a:ea typeface="Times New Roman MT"/>
                <a:cs typeface="Times New Roman MT"/>
                <a:sym typeface="Times New Roman MT"/>
              </a:rPr>
              <a:t>Non-deep-learning approaches (like SVM, KNN) consistently failed to achieve accuracies above 80% and lacked the ability to generalize well.</a:t>
            </a:r>
          </a:p>
          <a:p>
            <a:pPr algn="just">
              <a:lnSpc>
                <a:spcPts val="3240"/>
              </a:lnSpc>
            </a:pPr>
          </a:p>
          <a:p>
            <a:pPr algn="just" marL="647706" indent="-323853" lvl="1">
              <a:lnSpc>
                <a:spcPts val="3240"/>
              </a:lnSpc>
              <a:buFont typeface="Arial"/>
              <a:buChar char="•"/>
            </a:pPr>
            <a:r>
              <a:rPr lang="en-US" b="true" sz="3000">
                <a:solidFill>
                  <a:srgbClr val="000000"/>
                </a:solidFill>
                <a:latin typeface="Times New Roman MT Bold"/>
                <a:ea typeface="Times New Roman MT Bold"/>
                <a:cs typeface="Times New Roman MT Bold"/>
                <a:sym typeface="Times New Roman MT Bold"/>
              </a:rPr>
              <a:t>Insufficient Methodological Transparency: </a:t>
            </a:r>
            <a:r>
              <a:rPr lang="en-US" sz="3000">
                <a:solidFill>
                  <a:srgbClr val="000000"/>
                </a:solidFill>
                <a:latin typeface="Times New Roman MT"/>
                <a:ea typeface="Times New Roman MT"/>
                <a:cs typeface="Times New Roman MT"/>
                <a:sym typeface="Times New Roman MT"/>
              </a:rPr>
              <a:t>A common issue in prior research is the lack of detailed reporting on dataset sources, preprocessing pipelines, and model configurations, which hinders reproducibility.</a:t>
            </a:r>
          </a:p>
          <a:p>
            <a:pPr algn="just">
              <a:lnSpc>
                <a:spcPts val="3240"/>
              </a:lnSpc>
            </a:pPr>
          </a:p>
          <a:p>
            <a:pPr algn="just" marL="647706" indent="-323853" lvl="1">
              <a:lnSpc>
                <a:spcPts val="3240"/>
              </a:lnSpc>
              <a:buFont typeface="Arial"/>
              <a:buChar char="•"/>
            </a:pPr>
            <a:r>
              <a:rPr lang="en-US" b="true" sz="3000">
                <a:solidFill>
                  <a:srgbClr val="000000"/>
                </a:solidFill>
                <a:latin typeface="Times New Roman MT Bold"/>
                <a:ea typeface="Times New Roman MT Bold"/>
                <a:cs typeface="Times New Roman MT Bold"/>
                <a:sym typeface="Times New Roman MT Bold"/>
              </a:rPr>
              <a:t>Unexplored Trade-off Between Complexity and Performance: </a:t>
            </a:r>
            <a:r>
              <a:rPr lang="en-US" sz="3000">
                <a:solidFill>
                  <a:srgbClr val="000000"/>
                </a:solidFill>
                <a:latin typeface="Times New Roman MT"/>
                <a:ea typeface="Times New Roman MT"/>
                <a:cs typeface="Times New Roman MT"/>
                <a:sym typeface="Times New Roman MT"/>
              </a:rPr>
              <a:t>There was an assumption that deeper, more complex models are always better. The effectiveness of a well-optimized, simple architecture had not been thoroughly investigated.</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98584" y="2685240"/>
            <a:ext cx="15123562" cy="2963696"/>
          </a:xfrm>
          <a:custGeom>
            <a:avLst/>
            <a:gdLst/>
            <a:ahLst/>
            <a:cxnLst/>
            <a:rect r="r" b="b" t="t" l="l"/>
            <a:pathLst>
              <a:path h="2963696" w="15123562">
                <a:moveTo>
                  <a:pt x="0" y="0"/>
                </a:moveTo>
                <a:lnTo>
                  <a:pt x="15123562" y="0"/>
                </a:lnTo>
                <a:lnTo>
                  <a:pt x="15123562" y="2963696"/>
                </a:lnTo>
                <a:lnTo>
                  <a:pt x="0" y="2963696"/>
                </a:lnTo>
                <a:lnTo>
                  <a:pt x="0" y="0"/>
                </a:lnTo>
                <a:close/>
              </a:path>
            </a:pathLst>
          </a:custGeom>
          <a:blipFill>
            <a:blip r:embed="rId3"/>
            <a:stretch>
              <a:fillRect l="-901" t="-41167" r="-2104" b="-40215"/>
            </a:stretch>
          </a:blipFill>
        </p:spPr>
      </p:sp>
      <p:sp>
        <p:nvSpPr>
          <p:cNvPr name="Freeform 4" id="4"/>
          <p:cNvSpPr/>
          <p:nvPr/>
        </p:nvSpPr>
        <p:spPr>
          <a:xfrm flipH="false" flipV="false" rot="0">
            <a:off x="5457853" y="5648936"/>
            <a:ext cx="12830147" cy="4638064"/>
          </a:xfrm>
          <a:custGeom>
            <a:avLst/>
            <a:gdLst/>
            <a:ahLst/>
            <a:cxnLst/>
            <a:rect r="r" b="b" t="t" l="l"/>
            <a:pathLst>
              <a:path h="4638064" w="12830147">
                <a:moveTo>
                  <a:pt x="0" y="0"/>
                </a:moveTo>
                <a:lnTo>
                  <a:pt x="12830147" y="0"/>
                </a:lnTo>
                <a:lnTo>
                  <a:pt x="12830147" y="4638064"/>
                </a:lnTo>
                <a:lnTo>
                  <a:pt x="0" y="4638064"/>
                </a:lnTo>
                <a:lnTo>
                  <a:pt x="0" y="0"/>
                </a:lnTo>
                <a:close/>
              </a:path>
            </a:pathLst>
          </a:custGeom>
          <a:blipFill>
            <a:blip r:embed="rId4"/>
            <a:stretch>
              <a:fillRect l="0" t="0" r="0" b="0"/>
            </a:stretch>
          </a:blipFill>
        </p:spPr>
      </p:sp>
      <p:sp>
        <p:nvSpPr>
          <p:cNvPr name="Freeform 5" id="5"/>
          <p:cNvSpPr/>
          <p:nvPr/>
        </p:nvSpPr>
        <p:spPr>
          <a:xfrm flipH="false" flipV="false" rot="-737000">
            <a:off x="4535064" y="5823727"/>
            <a:ext cx="706297" cy="2111215"/>
          </a:xfrm>
          <a:custGeom>
            <a:avLst/>
            <a:gdLst/>
            <a:ahLst/>
            <a:cxnLst/>
            <a:rect r="r" b="b" t="t" l="l"/>
            <a:pathLst>
              <a:path h="2111215" w="706297">
                <a:moveTo>
                  <a:pt x="0" y="0"/>
                </a:moveTo>
                <a:lnTo>
                  <a:pt x="706297" y="0"/>
                </a:lnTo>
                <a:lnTo>
                  <a:pt x="706297" y="2111215"/>
                </a:lnTo>
                <a:lnTo>
                  <a:pt x="0" y="21112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10800000">
            <a:off x="12334798" y="4872019"/>
            <a:ext cx="1794914" cy="542962"/>
          </a:xfrm>
          <a:custGeom>
            <a:avLst/>
            <a:gdLst/>
            <a:ahLst/>
            <a:cxnLst/>
            <a:rect r="r" b="b" t="t" l="l"/>
            <a:pathLst>
              <a:path h="542962" w="1794914">
                <a:moveTo>
                  <a:pt x="0" y="0"/>
                </a:moveTo>
                <a:lnTo>
                  <a:pt x="1794914" y="0"/>
                </a:lnTo>
                <a:lnTo>
                  <a:pt x="1794914" y="542962"/>
                </a:lnTo>
                <a:lnTo>
                  <a:pt x="0" y="5429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10800000">
            <a:off x="9690080" y="4872019"/>
            <a:ext cx="1794914" cy="542962"/>
          </a:xfrm>
          <a:custGeom>
            <a:avLst/>
            <a:gdLst/>
            <a:ahLst/>
            <a:cxnLst/>
            <a:rect r="r" b="b" t="t" l="l"/>
            <a:pathLst>
              <a:path h="542962" w="1794914">
                <a:moveTo>
                  <a:pt x="0" y="0"/>
                </a:moveTo>
                <a:lnTo>
                  <a:pt x="1794914" y="0"/>
                </a:lnTo>
                <a:lnTo>
                  <a:pt x="1794914" y="542962"/>
                </a:lnTo>
                <a:lnTo>
                  <a:pt x="0" y="5429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10800000">
            <a:off x="7045362" y="4872019"/>
            <a:ext cx="1794914" cy="542962"/>
          </a:xfrm>
          <a:custGeom>
            <a:avLst/>
            <a:gdLst/>
            <a:ahLst/>
            <a:cxnLst/>
            <a:rect r="r" b="b" t="t" l="l"/>
            <a:pathLst>
              <a:path h="542962" w="1794914">
                <a:moveTo>
                  <a:pt x="0" y="0"/>
                </a:moveTo>
                <a:lnTo>
                  <a:pt x="1794914" y="0"/>
                </a:lnTo>
                <a:lnTo>
                  <a:pt x="1794914" y="542962"/>
                </a:lnTo>
                <a:lnTo>
                  <a:pt x="0" y="5429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9587062">
            <a:off x="4619003" y="5143500"/>
            <a:ext cx="1794914" cy="542962"/>
          </a:xfrm>
          <a:custGeom>
            <a:avLst/>
            <a:gdLst/>
            <a:ahLst/>
            <a:cxnLst/>
            <a:rect r="r" b="b" t="t" l="l"/>
            <a:pathLst>
              <a:path h="542962" w="1794914">
                <a:moveTo>
                  <a:pt x="0" y="0"/>
                </a:moveTo>
                <a:lnTo>
                  <a:pt x="1794914" y="0"/>
                </a:lnTo>
                <a:lnTo>
                  <a:pt x="1794914" y="542962"/>
                </a:lnTo>
                <a:lnTo>
                  <a:pt x="0" y="54296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8165921">
            <a:off x="14404886" y="4454441"/>
            <a:ext cx="1385454" cy="791325"/>
          </a:xfrm>
          <a:custGeom>
            <a:avLst/>
            <a:gdLst/>
            <a:ahLst/>
            <a:cxnLst/>
            <a:rect r="r" b="b" t="t" l="l"/>
            <a:pathLst>
              <a:path h="791325" w="1385454">
                <a:moveTo>
                  <a:pt x="0" y="0"/>
                </a:moveTo>
                <a:lnTo>
                  <a:pt x="1385454" y="0"/>
                </a:lnTo>
                <a:lnTo>
                  <a:pt x="1385454" y="791325"/>
                </a:lnTo>
                <a:lnTo>
                  <a:pt x="0" y="79132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1" id="11"/>
          <p:cNvSpPr txBox="true"/>
          <p:nvPr/>
        </p:nvSpPr>
        <p:spPr>
          <a:xfrm rot="0">
            <a:off x="298584" y="1919478"/>
            <a:ext cx="12263560" cy="641985"/>
          </a:xfrm>
          <a:prstGeom prst="rect">
            <a:avLst/>
          </a:prstGeom>
        </p:spPr>
        <p:txBody>
          <a:bodyPr anchor="t" rtlCol="false" tIns="0" lIns="0" bIns="0" rIns="0">
            <a:spAutoFit/>
          </a:bodyPr>
          <a:lstStyle/>
          <a:p>
            <a:pPr algn="l">
              <a:lnSpc>
                <a:spcPts val="4320"/>
              </a:lnSpc>
            </a:pPr>
            <a:r>
              <a:rPr lang="en-US" sz="4000">
                <a:solidFill>
                  <a:srgbClr val="000000"/>
                </a:solidFill>
                <a:latin typeface="Times New Roman MT"/>
                <a:ea typeface="Times New Roman MT"/>
                <a:cs typeface="Times New Roman MT"/>
                <a:sym typeface="Times New Roman MT"/>
              </a:rPr>
              <a:t>6. METHODOLOGICAL WORKFLOW</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280231" y="2843361"/>
            <a:ext cx="11420885" cy="3766201"/>
          </a:xfrm>
          <a:custGeom>
            <a:avLst/>
            <a:gdLst/>
            <a:ahLst/>
            <a:cxnLst/>
            <a:rect r="r" b="b" t="t" l="l"/>
            <a:pathLst>
              <a:path h="3766201" w="11420885">
                <a:moveTo>
                  <a:pt x="0" y="0"/>
                </a:moveTo>
                <a:lnTo>
                  <a:pt x="11420885" y="0"/>
                </a:lnTo>
                <a:lnTo>
                  <a:pt x="11420885" y="3766201"/>
                </a:lnTo>
                <a:lnTo>
                  <a:pt x="0" y="3766201"/>
                </a:lnTo>
                <a:lnTo>
                  <a:pt x="0" y="0"/>
                </a:lnTo>
                <a:close/>
              </a:path>
            </a:pathLst>
          </a:custGeom>
          <a:blipFill>
            <a:blip r:embed="rId3"/>
            <a:stretch>
              <a:fillRect l="0" t="0" r="-345" b="0"/>
            </a:stretch>
          </a:blipFill>
        </p:spPr>
      </p:sp>
      <p:sp>
        <p:nvSpPr>
          <p:cNvPr name="Freeform 4" id="4"/>
          <p:cNvSpPr/>
          <p:nvPr/>
        </p:nvSpPr>
        <p:spPr>
          <a:xfrm flipH="false" flipV="false" rot="0">
            <a:off x="12062036" y="2740938"/>
            <a:ext cx="5686537" cy="4805124"/>
          </a:xfrm>
          <a:custGeom>
            <a:avLst/>
            <a:gdLst/>
            <a:ahLst/>
            <a:cxnLst/>
            <a:rect r="r" b="b" t="t" l="l"/>
            <a:pathLst>
              <a:path h="4805124" w="5686537">
                <a:moveTo>
                  <a:pt x="0" y="0"/>
                </a:moveTo>
                <a:lnTo>
                  <a:pt x="5686537" y="0"/>
                </a:lnTo>
                <a:lnTo>
                  <a:pt x="5686537" y="4805124"/>
                </a:lnTo>
                <a:lnTo>
                  <a:pt x="0" y="4805124"/>
                </a:lnTo>
                <a:lnTo>
                  <a:pt x="0" y="0"/>
                </a:lnTo>
                <a:close/>
              </a:path>
            </a:pathLst>
          </a:custGeom>
          <a:blipFill>
            <a:blip r:embed="rId4"/>
            <a:stretch>
              <a:fillRect l="0" t="0" r="0" b="0"/>
            </a:stretch>
          </a:blipFill>
        </p:spPr>
      </p:sp>
      <p:sp>
        <p:nvSpPr>
          <p:cNvPr name="TextBox 5" id="5"/>
          <p:cNvSpPr txBox="true"/>
          <p:nvPr/>
        </p:nvSpPr>
        <p:spPr>
          <a:xfrm rot="0">
            <a:off x="507577" y="2033346"/>
            <a:ext cx="16928859" cy="673608"/>
          </a:xfrm>
          <a:prstGeom prst="rect">
            <a:avLst/>
          </a:prstGeom>
        </p:spPr>
        <p:txBody>
          <a:bodyPr anchor="t" rtlCol="false" tIns="0" lIns="0" bIns="0" rIns="0">
            <a:spAutoFit/>
          </a:bodyPr>
          <a:lstStyle/>
          <a:p>
            <a:pPr algn="l">
              <a:lnSpc>
                <a:spcPts val="4536"/>
              </a:lnSpc>
            </a:pPr>
            <a:r>
              <a:rPr lang="en-US" sz="4200">
                <a:solidFill>
                  <a:srgbClr val="000000"/>
                </a:solidFill>
                <a:latin typeface="Times New Roman MT"/>
                <a:ea typeface="Times New Roman MT"/>
                <a:cs typeface="Times New Roman MT"/>
                <a:sym typeface="Times New Roman MT"/>
              </a:rPr>
              <a:t>7. RESULTS &amp; DISCUSSION</a:t>
            </a:r>
          </a:p>
        </p:txBody>
      </p:sp>
      <p:sp>
        <p:nvSpPr>
          <p:cNvPr name="TextBox 6" id="6"/>
          <p:cNvSpPr txBox="true"/>
          <p:nvPr/>
        </p:nvSpPr>
        <p:spPr>
          <a:xfrm rot="0">
            <a:off x="280231" y="6822170"/>
            <a:ext cx="11577500" cy="1893570"/>
          </a:xfrm>
          <a:prstGeom prst="rect">
            <a:avLst/>
          </a:prstGeom>
        </p:spPr>
        <p:txBody>
          <a:bodyPr anchor="t" rtlCol="false" tIns="0" lIns="0" bIns="0" rIns="0">
            <a:spAutoFit/>
          </a:bodyPr>
          <a:lstStyle/>
          <a:p>
            <a:pPr algn="just">
              <a:lnSpc>
                <a:spcPts val="3780"/>
              </a:lnSpc>
            </a:pPr>
            <a:r>
              <a:rPr lang="en-US" sz="2700">
                <a:solidFill>
                  <a:srgbClr val="000000"/>
                </a:solidFill>
                <a:latin typeface="Canva Sans"/>
                <a:ea typeface="Canva Sans"/>
                <a:cs typeface="Canva Sans"/>
                <a:sym typeface="Canva Sans"/>
              </a:rPr>
              <a:t>The </a:t>
            </a:r>
            <a:r>
              <a:rPr lang="en-US" sz="2700" b="true">
                <a:solidFill>
                  <a:srgbClr val="000000"/>
                </a:solidFill>
                <a:latin typeface="Canva Sans Bold"/>
                <a:ea typeface="Canva Sans Bold"/>
                <a:cs typeface="Canva Sans Bold"/>
                <a:sym typeface="Canva Sans Bold"/>
              </a:rPr>
              <a:t>Shallow CNN mo</a:t>
            </a:r>
            <a:r>
              <a:rPr lang="en-US" b="true" sz="2700">
                <a:solidFill>
                  <a:srgbClr val="000000"/>
                </a:solidFill>
                <a:latin typeface="Canva Sans Bold"/>
                <a:ea typeface="Canva Sans Bold"/>
                <a:cs typeface="Canva Sans Bold"/>
                <a:sym typeface="Canva Sans Bold"/>
              </a:rPr>
              <a:t>del </a:t>
            </a:r>
            <a:r>
              <a:rPr lang="en-US" sz="2700">
                <a:solidFill>
                  <a:srgbClr val="000000"/>
                </a:solidFill>
                <a:latin typeface="Canva Sans"/>
                <a:ea typeface="Canva Sans"/>
                <a:cs typeface="Canva Sans"/>
                <a:sym typeface="Canva Sans"/>
              </a:rPr>
              <a:t>achieved the </a:t>
            </a:r>
            <a:r>
              <a:rPr lang="en-US" b="true" sz="2700">
                <a:solidFill>
                  <a:srgbClr val="000000"/>
                </a:solidFill>
                <a:latin typeface="Canva Sans Bold"/>
                <a:ea typeface="Canva Sans Bold"/>
                <a:cs typeface="Canva Sans Bold"/>
                <a:sym typeface="Canva Sans Bold"/>
              </a:rPr>
              <a:t>highest accuracy </a:t>
            </a:r>
            <a:r>
              <a:rPr lang="en-US" sz="2700">
                <a:solidFill>
                  <a:srgbClr val="000000"/>
                </a:solidFill>
                <a:latin typeface="Canva Sans"/>
                <a:ea typeface="Canva Sans"/>
                <a:cs typeface="Canva Sans"/>
                <a:sym typeface="Canva Sans"/>
              </a:rPr>
              <a:t>and </a:t>
            </a:r>
            <a:r>
              <a:rPr lang="en-US" b="true" sz="2700">
                <a:solidFill>
                  <a:srgbClr val="000000"/>
                </a:solidFill>
                <a:latin typeface="Canva Sans Bold"/>
                <a:ea typeface="Canva Sans Bold"/>
                <a:cs typeface="Canva Sans Bold"/>
                <a:sym typeface="Canva Sans Bold"/>
              </a:rPr>
              <a:t>F1-Score </a:t>
            </a:r>
            <a:r>
              <a:rPr lang="en-US" sz="2700">
                <a:solidFill>
                  <a:srgbClr val="000000"/>
                </a:solidFill>
                <a:latin typeface="Canva Sans"/>
                <a:ea typeface="Canva Sans"/>
                <a:cs typeface="Canva Sans"/>
                <a:sym typeface="Canva Sans"/>
              </a:rPr>
              <a:t>with the </a:t>
            </a:r>
            <a:r>
              <a:rPr lang="en-US" b="true" sz="2700">
                <a:solidFill>
                  <a:srgbClr val="000000"/>
                </a:solidFill>
                <a:latin typeface="Canva Sans Bold"/>
                <a:ea typeface="Canva Sans Bold"/>
                <a:cs typeface="Canva Sans Bold"/>
                <a:sym typeface="Canva Sans Bold"/>
              </a:rPr>
              <a:t>fastest training time</a:t>
            </a:r>
            <a:r>
              <a:rPr lang="en-US" sz="2700">
                <a:solidFill>
                  <a:srgbClr val="000000"/>
                </a:solidFill>
                <a:latin typeface="Canva Sans"/>
                <a:ea typeface="Canva Sans"/>
                <a:cs typeface="Canva Sans"/>
                <a:sym typeface="Canva Sans"/>
              </a:rPr>
              <a:t>. The </a:t>
            </a:r>
            <a:r>
              <a:rPr lang="en-US" b="true" sz="2700">
                <a:solidFill>
                  <a:srgbClr val="000000"/>
                </a:solidFill>
                <a:latin typeface="Canva Sans Bold"/>
                <a:ea typeface="Canva Sans Bold"/>
                <a:cs typeface="Canva Sans Bold"/>
                <a:sym typeface="Canva Sans Bold"/>
              </a:rPr>
              <a:t>confusion matrix </a:t>
            </a:r>
            <a:r>
              <a:rPr lang="en-US" sz="2700">
                <a:solidFill>
                  <a:srgbClr val="000000"/>
                </a:solidFill>
                <a:latin typeface="Canva Sans"/>
                <a:ea typeface="Canva Sans"/>
                <a:cs typeface="Canva Sans"/>
                <a:sym typeface="Canva Sans"/>
              </a:rPr>
              <a:t>shows a </a:t>
            </a:r>
            <a:r>
              <a:rPr lang="en-US" b="true" sz="2700">
                <a:solidFill>
                  <a:srgbClr val="000000"/>
                </a:solidFill>
                <a:latin typeface="Canva Sans Bold"/>
                <a:ea typeface="Canva Sans Bold"/>
                <a:cs typeface="Canva Sans Bold"/>
                <a:sym typeface="Canva Sans Bold"/>
              </a:rPr>
              <a:t>strong diagonal</a:t>
            </a:r>
            <a:r>
              <a:rPr lang="en-US" sz="2700">
                <a:solidFill>
                  <a:srgbClr val="000000"/>
                </a:solidFill>
                <a:latin typeface="Canva Sans"/>
                <a:ea typeface="Canva Sans"/>
                <a:cs typeface="Canva Sans"/>
                <a:sym typeface="Canva Sans"/>
              </a:rPr>
              <a:t>, indicating </a:t>
            </a:r>
            <a:r>
              <a:rPr lang="en-US" b="true" sz="2700">
                <a:solidFill>
                  <a:srgbClr val="000000"/>
                </a:solidFill>
                <a:latin typeface="Canva Sans Bold"/>
                <a:ea typeface="Canva Sans Bold"/>
                <a:cs typeface="Canva Sans Bold"/>
                <a:sym typeface="Canva Sans Bold"/>
              </a:rPr>
              <a:t>balanced </a:t>
            </a:r>
            <a:r>
              <a:rPr lang="en-US" sz="2700">
                <a:solidFill>
                  <a:srgbClr val="000000"/>
                </a:solidFill>
                <a:latin typeface="Canva Sans"/>
                <a:ea typeface="Canva Sans"/>
                <a:cs typeface="Canva Sans"/>
                <a:sym typeface="Canva Sans"/>
              </a:rPr>
              <a:t>and </a:t>
            </a:r>
            <a:r>
              <a:rPr lang="en-US" b="true" sz="2700">
                <a:solidFill>
                  <a:srgbClr val="000000"/>
                </a:solidFill>
                <a:latin typeface="Canva Sans Bold"/>
                <a:ea typeface="Canva Sans Bold"/>
                <a:cs typeface="Canva Sans Bold"/>
                <a:sym typeface="Canva Sans Bold"/>
              </a:rPr>
              <a:t>accurate predictions </a:t>
            </a:r>
            <a:r>
              <a:rPr lang="en-US" sz="2700">
                <a:solidFill>
                  <a:srgbClr val="000000"/>
                </a:solidFill>
                <a:latin typeface="Canva Sans"/>
                <a:ea typeface="Canva Sans"/>
                <a:cs typeface="Canva Sans"/>
                <a:sym typeface="Canva Sans"/>
              </a:rPr>
              <a:t>across all blood groups.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66198" y="0"/>
            <a:ext cx="19854198" cy="12034078"/>
          </a:xfrm>
          <a:custGeom>
            <a:avLst/>
            <a:gdLst/>
            <a:ahLst/>
            <a:cxnLst/>
            <a:rect r="r" b="b" t="t" l="l"/>
            <a:pathLst>
              <a:path h="12034078" w="19854198">
                <a:moveTo>
                  <a:pt x="0" y="0"/>
                </a:moveTo>
                <a:lnTo>
                  <a:pt x="19854198" y="0"/>
                </a:lnTo>
                <a:lnTo>
                  <a:pt x="19854198" y="12034078"/>
                </a:lnTo>
                <a:lnTo>
                  <a:pt x="0" y="12034078"/>
                </a:lnTo>
                <a:lnTo>
                  <a:pt x="0" y="0"/>
                </a:lnTo>
                <a:close/>
              </a:path>
            </a:pathLst>
          </a:custGeom>
          <a:blipFill>
            <a:blip r:embed="rId2"/>
            <a:stretch>
              <a:fillRect l="-7929" t="-129" r="0" b="-32"/>
            </a:stretch>
          </a:blipFill>
        </p:spPr>
      </p:sp>
      <p:sp>
        <p:nvSpPr>
          <p:cNvPr name="Freeform 3" id="3"/>
          <p:cNvSpPr/>
          <p:nvPr/>
        </p:nvSpPr>
        <p:spPr>
          <a:xfrm flipH="false" flipV="false" rot="0">
            <a:off x="1028700" y="2130750"/>
            <a:ext cx="9946449" cy="7772579"/>
          </a:xfrm>
          <a:custGeom>
            <a:avLst/>
            <a:gdLst/>
            <a:ahLst/>
            <a:cxnLst/>
            <a:rect r="r" b="b" t="t" l="l"/>
            <a:pathLst>
              <a:path h="7772579" w="9946449">
                <a:moveTo>
                  <a:pt x="0" y="0"/>
                </a:moveTo>
                <a:lnTo>
                  <a:pt x="9946449" y="0"/>
                </a:lnTo>
                <a:lnTo>
                  <a:pt x="9946449" y="7772578"/>
                </a:lnTo>
                <a:lnTo>
                  <a:pt x="0" y="7772578"/>
                </a:lnTo>
                <a:lnTo>
                  <a:pt x="0" y="0"/>
                </a:lnTo>
                <a:close/>
              </a:path>
            </a:pathLst>
          </a:custGeom>
          <a:blipFill>
            <a:blip r:embed="rId3"/>
            <a:stretch>
              <a:fillRect l="0" t="-867" r="0" b="-867"/>
            </a:stretch>
          </a:blipFill>
        </p:spPr>
      </p:sp>
      <p:sp>
        <p:nvSpPr>
          <p:cNvPr name="TextBox 4" id="4"/>
          <p:cNvSpPr txBox="true"/>
          <p:nvPr/>
        </p:nvSpPr>
        <p:spPr>
          <a:xfrm rot="0">
            <a:off x="11786589" y="4501896"/>
            <a:ext cx="5243273" cy="1245108"/>
          </a:xfrm>
          <a:prstGeom prst="rect">
            <a:avLst/>
          </a:prstGeom>
        </p:spPr>
        <p:txBody>
          <a:bodyPr anchor="t" rtlCol="false" tIns="0" lIns="0" bIns="0" rIns="0">
            <a:spAutoFit/>
          </a:bodyPr>
          <a:lstStyle/>
          <a:p>
            <a:pPr algn="l">
              <a:lnSpc>
                <a:spcPts val="4536"/>
              </a:lnSpc>
            </a:pPr>
            <a:r>
              <a:rPr lang="en-US" sz="4200">
                <a:solidFill>
                  <a:srgbClr val="000000"/>
                </a:solidFill>
                <a:latin typeface="Times New Roman MT"/>
                <a:ea typeface="Times New Roman MT"/>
                <a:cs typeface="Times New Roman MT"/>
                <a:sym typeface="Times New Roman MT"/>
              </a:rPr>
              <a:t>8. COMPARATIVE ANALYSIS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507577" y="1842523"/>
            <a:ext cx="16928859" cy="7192137"/>
          </a:xfrm>
          <a:prstGeom prst="rect">
            <a:avLst/>
          </a:prstGeom>
        </p:spPr>
        <p:txBody>
          <a:bodyPr anchor="t" rtlCol="false" tIns="0" lIns="0" bIns="0" rIns="0">
            <a:spAutoFit/>
          </a:bodyPr>
          <a:lstStyle/>
          <a:p>
            <a:pPr algn="just">
              <a:lnSpc>
                <a:spcPts val="4536"/>
              </a:lnSpc>
            </a:pPr>
            <a:r>
              <a:rPr lang="en-US" sz="4200">
                <a:solidFill>
                  <a:srgbClr val="000000"/>
                </a:solidFill>
                <a:latin typeface="Times New Roman MT"/>
                <a:ea typeface="Times New Roman MT"/>
                <a:cs typeface="Times New Roman MT"/>
                <a:sym typeface="Times New Roman MT"/>
              </a:rPr>
              <a:t>9. CONCLUSION</a:t>
            </a:r>
          </a:p>
          <a:p>
            <a:pPr algn="just">
              <a:lnSpc>
                <a:spcPts val="2160"/>
              </a:lnSpc>
            </a:pPr>
          </a:p>
          <a:p>
            <a:pPr algn="just">
              <a:lnSpc>
                <a:spcPts val="3672"/>
              </a:lnSpc>
            </a:pPr>
            <a:r>
              <a:rPr lang="en-US" sz="3400">
                <a:solidFill>
                  <a:srgbClr val="000000"/>
                </a:solidFill>
                <a:latin typeface="Times New Roman MT"/>
                <a:ea typeface="Times New Roman MT"/>
                <a:cs typeface="Times New Roman MT"/>
                <a:sym typeface="Times New Roman MT"/>
              </a:rPr>
              <a:t>This research developed a non-invasive blood group classification method using fingerprints, achieving 89.49% accuracy. The Shallow CNN model outperformed more complex architectures in both accuracy and efficiency, challenging the notion that "deeper is always better." The method provides a reproducible, scalable alternative to traditional serological testing.</a:t>
            </a:r>
          </a:p>
          <a:p>
            <a:pPr algn="just">
              <a:lnSpc>
                <a:spcPts val="3672"/>
              </a:lnSpc>
            </a:pPr>
          </a:p>
          <a:p>
            <a:pPr algn="just">
              <a:lnSpc>
                <a:spcPts val="4536"/>
              </a:lnSpc>
            </a:pPr>
            <a:r>
              <a:rPr lang="en-US" sz="4200">
                <a:solidFill>
                  <a:srgbClr val="000000"/>
                </a:solidFill>
                <a:latin typeface="Times New Roman MT"/>
                <a:ea typeface="Times New Roman MT"/>
                <a:cs typeface="Times New Roman MT"/>
                <a:sym typeface="Times New Roman MT"/>
              </a:rPr>
              <a:t>FUTURE WORK</a:t>
            </a:r>
          </a:p>
          <a:p>
            <a:pPr algn="just">
              <a:lnSpc>
                <a:spcPts val="1620"/>
              </a:lnSpc>
            </a:pPr>
          </a:p>
          <a:p>
            <a:pPr algn="just" marL="734064" indent="-367032" lvl="1">
              <a:lnSpc>
                <a:spcPts val="3672"/>
              </a:lnSpc>
              <a:buFont typeface="Arial"/>
              <a:buChar char="•"/>
            </a:pPr>
            <a:r>
              <a:rPr lang="en-US" b="true" sz="3400">
                <a:solidFill>
                  <a:srgbClr val="000000"/>
                </a:solidFill>
                <a:latin typeface="Times New Roman MT Bold"/>
                <a:ea typeface="Times New Roman MT Bold"/>
                <a:cs typeface="Times New Roman MT Bold"/>
                <a:sym typeface="Times New Roman MT Bold"/>
              </a:rPr>
              <a:t>Enhance Dataset:</a:t>
            </a:r>
            <a:r>
              <a:rPr lang="en-US" sz="3400">
                <a:solidFill>
                  <a:srgbClr val="000000"/>
                </a:solidFill>
                <a:latin typeface="Times New Roman MT"/>
                <a:ea typeface="Times New Roman MT"/>
                <a:cs typeface="Times New Roman MT"/>
                <a:sym typeface="Times New Roman MT"/>
              </a:rPr>
              <a:t> Include more diverse fingerprint samples for better generalizability.</a:t>
            </a:r>
          </a:p>
          <a:p>
            <a:pPr algn="just" marL="734064" indent="-367032" lvl="1">
              <a:lnSpc>
                <a:spcPts val="3672"/>
              </a:lnSpc>
              <a:buFont typeface="Arial"/>
              <a:buChar char="•"/>
            </a:pPr>
            <a:r>
              <a:rPr lang="en-US" b="true" sz="3400">
                <a:solidFill>
                  <a:srgbClr val="000000"/>
                </a:solidFill>
                <a:latin typeface="Times New Roman MT Bold"/>
                <a:ea typeface="Times New Roman MT Bold"/>
                <a:cs typeface="Times New Roman MT Bold"/>
                <a:sym typeface="Times New Roman MT Bold"/>
              </a:rPr>
              <a:t>Explore Transfer Learning:</a:t>
            </a:r>
            <a:r>
              <a:rPr lang="en-US" sz="3400">
                <a:solidFill>
                  <a:srgbClr val="000000"/>
                </a:solidFill>
                <a:latin typeface="Times New Roman MT"/>
                <a:ea typeface="Times New Roman MT"/>
                <a:cs typeface="Times New Roman MT"/>
                <a:sym typeface="Times New Roman MT"/>
              </a:rPr>
              <a:t> Use pre-trained models like VGG16 or ResNet to improve accuracy.</a:t>
            </a:r>
          </a:p>
          <a:p>
            <a:pPr algn="just" marL="734064" indent="-367032" lvl="1">
              <a:lnSpc>
                <a:spcPts val="3672"/>
              </a:lnSpc>
              <a:buFont typeface="Arial"/>
              <a:buChar char="•"/>
            </a:pPr>
            <a:r>
              <a:rPr lang="en-US" b="true" sz="3400">
                <a:solidFill>
                  <a:srgbClr val="000000"/>
                </a:solidFill>
                <a:latin typeface="Times New Roman MT Bold"/>
                <a:ea typeface="Times New Roman MT Bold"/>
                <a:cs typeface="Times New Roman MT Bold"/>
                <a:sym typeface="Times New Roman MT Bold"/>
              </a:rPr>
              <a:t>Real-World Validation:</a:t>
            </a:r>
            <a:r>
              <a:rPr lang="en-US" sz="3400">
                <a:solidFill>
                  <a:srgbClr val="000000"/>
                </a:solidFill>
                <a:latin typeface="Times New Roman MT"/>
                <a:ea typeface="Times New Roman MT"/>
                <a:cs typeface="Times New Roman MT"/>
                <a:sym typeface="Times New Roman MT"/>
              </a:rPr>
              <a:t> Test the model in clinical or forensic settings.</a:t>
            </a:r>
          </a:p>
          <a:p>
            <a:pPr algn="just" marL="734064" indent="-367032" lvl="1">
              <a:lnSpc>
                <a:spcPts val="3672"/>
              </a:lnSpc>
              <a:buFont typeface="Arial"/>
              <a:buChar char="•"/>
            </a:pPr>
            <a:r>
              <a:rPr lang="en-US" b="true" sz="3400">
                <a:solidFill>
                  <a:srgbClr val="000000"/>
                </a:solidFill>
                <a:latin typeface="Times New Roman MT Bold"/>
                <a:ea typeface="Times New Roman MT Bold"/>
                <a:cs typeface="Times New Roman MT Bold"/>
                <a:sym typeface="Times New Roman MT Bold"/>
              </a:rPr>
              <a:t>Improve Interpretability:</a:t>
            </a:r>
            <a:r>
              <a:rPr lang="en-US" sz="3400">
                <a:solidFill>
                  <a:srgbClr val="000000"/>
                </a:solidFill>
                <a:latin typeface="Times New Roman MT"/>
                <a:ea typeface="Times New Roman MT"/>
                <a:cs typeface="Times New Roman MT"/>
                <a:sym typeface="Times New Roman MT"/>
              </a:rPr>
              <a:t> Use Grad-CAM to visualize model decision-making for better transparency.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526126" y="1783997"/>
            <a:ext cx="17235749" cy="7786116"/>
          </a:xfrm>
          <a:prstGeom prst="rect">
            <a:avLst/>
          </a:prstGeom>
        </p:spPr>
        <p:txBody>
          <a:bodyPr anchor="t" rtlCol="false" tIns="0" lIns="0" bIns="0" rIns="0">
            <a:spAutoFit/>
          </a:bodyPr>
          <a:lstStyle/>
          <a:p>
            <a:pPr algn="l">
              <a:lnSpc>
                <a:spcPts val="4536"/>
              </a:lnSpc>
            </a:pPr>
            <a:r>
              <a:rPr lang="en-US" sz="4200">
                <a:solidFill>
                  <a:srgbClr val="000000"/>
                </a:solidFill>
                <a:latin typeface="Times New Roman MT"/>
                <a:ea typeface="Times New Roman MT"/>
                <a:cs typeface="Times New Roman MT"/>
                <a:sym typeface="Times New Roman MT"/>
              </a:rPr>
              <a:t>10. REFERENCES </a:t>
            </a:r>
          </a:p>
          <a:p>
            <a:pPr algn="l">
              <a:lnSpc>
                <a:spcPts val="2052"/>
              </a:lnSpc>
            </a:pPr>
          </a:p>
          <a:p>
            <a:pPr algn="just">
              <a:lnSpc>
                <a:spcPts val="2916"/>
              </a:lnSpc>
            </a:pPr>
            <a:r>
              <a:rPr lang="en-US" sz="2700">
                <a:solidFill>
                  <a:srgbClr val="000000"/>
                </a:solidFill>
                <a:latin typeface="Times New Roman MT"/>
                <a:ea typeface="Times New Roman MT"/>
                <a:cs typeface="Times New Roman MT"/>
                <a:sym typeface="Times New Roman MT"/>
              </a:rPr>
              <a:t>[1] Vijaykumar, Patil N., and D. R. Ingle, "A Novel Approach to Predict Blood Group using Fingerprint Map Reading," 2021 6th International Conference for Convergence in Technology (I2CT), IEEE, 2021.</a:t>
            </a:r>
          </a:p>
          <a:p>
            <a:pPr algn="just">
              <a:lnSpc>
                <a:spcPts val="2916"/>
              </a:lnSpc>
            </a:pPr>
          </a:p>
          <a:p>
            <a:pPr algn="just">
              <a:lnSpc>
                <a:spcPts val="2916"/>
              </a:lnSpc>
            </a:pPr>
            <a:r>
              <a:rPr lang="en-US" sz="2700">
                <a:solidFill>
                  <a:srgbClr val="000000"/>
                </a:solidFill>
                <a:latin typeface="Times New Roman MT"/>
                <a:ea typeface="Times New Roman MT"/>
                <a:cs typeface="Times New Roman MT"/>
                <a:sym typeface="Times New Roman MT"/>
              </a:rPr>
              <a:t>[2] D. Siva Sundhara Raja and J. Abinaya, "A Cost-Effective Method for Blood Group Detection Using Fingerprints," International Journal of Advance Study and Research Work, vol. 2, no. 3, pp. 1-10, March 2019.</a:t>
            </a:r>
          </a:p>
          <a:p>
            <a:pPr algn="just">
              <a:lnSpc>
                <a:spcPts val="2916"/>
              </a:lnSpc>
            </a:pPr>
          </a:p>
          <a:p>
            <a:pPr algn="just">
              <a:lnSpc>
                <a:spcPts val="2916"/>
              </a:lnSpc>
            </a:pPr>
            <a:r>
              <a:rPr lang="en-US" sz="2700">
                <a:solidFill>
                  <a:srgbClr val="000000"/>
                </a:solidFill>
                <a:latin typeface="Times New Roman MT"/>
                <a:ea typeface="Times New Roman MT"/>
                <a:cs typeface="Times New Roman MT"/>
                <a:sym typeface="Times New Roman MT"/>
              </a:rPr>
              <a:t>[3] S. Pimenta, G. Minas and F. Soares, "Spectrophotometric approach for automatic human blood typing," 2012 IEEE 2nd Portuguese Meeting in Bioengineering (ENBENG), Coimbra, Portugal, 2012, pp. 1-4.</a:t>
            </a:r>
          </a:p>
          <a:p>
            <a:pPr algn="just">
              <a:lnSpc>
                <a:spcPts val="2916"/>
              </a:lnSpc>
            </a:pPr>
          </a:p>
          <a:p>
            <a:pPr algn="just">
              <a:lnSpc>
                <a:spcPts val="2916"/>
              </a:lnSpc>
            </a:pPr>
            <a:r>
              <a:rPr lang="en-US" sz="2700">
                <a:solidFill>
                  <a:srgbClr val="000000"/>
                </a:solidFill>
                <a:latin typeface="Times New Roman MT"/>
                <a:ea typeface="Times New Roman MT"/>
                <a:cs typeface="Times New Roman MT"/>
                <a:sym typeface="Times New Roman MT"/>
              </a:rPr>
              <a:t>[4] A. Ferraz, "Automatic system for determination of blood types using image processing techniques," 2013 IEEE 3rd Portuguese Meeting in Bioengineering (ENBENG), IEEE, 2013.</a:t>
            </a:r>
          </a:p>
          <a:p>
            <a:pPr algn="just">
              <a:lnSpc>
                <a:spcPts val="2916"/>
              </a:lnSpc>
            </a:pPr>
          </a:p>
          <a:p>
            <a:pPr algn="just">
              <a:lnSpc>
                <a:spcPts val="2916"/>
              </a:lnSpc>
            </a:pPr>
            <a:r>
              <a:rPr lang="en-US" sz="2700">
                <a:solidFill>
                  <a:srgbClr val="000000"/>
                </a:solidFill>
                <a:latin typeface="Times New Roman MT"/>
                <a:ea typeface="Times New Roman MT"/>
                <a:cs typeface="Times New Roman MT"/>
                <a:sym typeface="Times New Roman MT"/>
              </a:rPr>
              <a:t>[5] S. Dannana and D. Y. V. Prasad, "Blood group detection using ML classifier," International Journal of Health Sciences, vol. 6, Suppl. 1, pp. 4395-4408, 2022.</a:t>
            </a:r>
          </a:p>
          <a:p>
            <a:pPr algn="just">
              <a:lnSpc>
                <a:spcPts val="2916"/>
              </a:lnSpc>
            </a:pPr>
          </a:p>
          <a:p>
            <a:pPr algn="just">
              <a:lnSpc>
                <a:spcPts val="2916"/>
              </a:lnSpc>
            </a:pPr>
            <a:r>
              <a:rPr lang="en-US" sz="2700">
                <a:solidFill>
                  <a:srgbClr val="000000"/>
                </a:solidFill>
                <a:latin typeface="Times New Roman MT"/>
                <a:ea typeface="Times New Roman MT"/>
                <a:cs typeface="Times New Roman MT"/>
                <a:sym typeface="Times New Roman MT"/>
              </a:rPr>
              <a:t>[6] J. Sai Ganta, M. Rishitha, Y. Jaya Surya Pulivarthi, and M. Roopa, "Blood Group Detection Using Image Processing and Deep Learning," International Research Journal of Engineering and Technology (IRJET), vol. 11, no. 4, pp. 97-103, April 2024.</a:t>
            </a:r>
          </a:p>
          <a:p>
            <a:pPr algn="just">
              <a:lnSpc>
                <a:spcPts val="2808"/>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DAG0RJgwjmM</dc:identifier>
  <dcterms:modified xsi:type="dcterms:W3CDTF">2011-08-01T06:04:30Z</dcterms:modified>
  <cp:revision>1</cp:revision>
  <dc:title>ICATES RohitKandelkar</dc:title>
</cp:coreProperties>
</file>